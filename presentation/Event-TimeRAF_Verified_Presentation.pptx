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 and verified scope. State immediately that M04, not the full M09 model, is the strongest manifest-backed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immutable ZIP as the source of truth. The notebook does not silently choose between conflicting edited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Official sources enter SACB, only train-history candidates enter LSER, and DFEH evaluates direct XGBoost and frozen Chronos paths. Point out that the drift gate is marked unreported.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Derive 85 from memory: 23 PM2.5, 14 weather, 9 calendar, 39 event. Explain that 86/40 was an AI draft counting error corrected from actual feature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leakage rule is stricter than candidate origin before query origin. The entire candidate future must end before the query lookback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Derive 151: 85 context + 51 retrieval summary + 6 drift fields + 9 future-calendar fields. The five drift components are robust-scaled on training data; the threshold is the validation 0.90 quantile.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model choices and validation decisions precede test examination. Difference A minus B below zero favors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say the proposed full model wins. Say M04 is strongest, Event-TimeRAF is an audited framework, and retrieval gains are selective.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calculated from actual saved predictions. Explain confidence intervals: a crossing of zero means the direction is not conclusive under this bootstrap.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Explainability is a structured evidence record, not a causal explanation. Events are official but retrospective because issue times are unavailable.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 with the qualified conclusion. Then open the notebook and run all cells. Keep the immutable ZIP in the project root or set FINAL_RUN_ZIP_OVERRIDE.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7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3035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7B75"/>
                </a:solidFill>
                <a:latin typeface="Aptos"/>
              </a:rPr>
              <a:t>EVENT-TIMERAF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640080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1D2630"/>
                </a:solidFill>
                <a:latin typeface="Aptos"/>
              </a:rPr>
              <a:t>Verified event-aware retrieval for
24-hour PM2.5 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3154680"/>
            <a:ext cx="6217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566370"/>
                </a:solidFill>
                <a:latin typeface="Aptos"/>
              </a:rPr>
              <a:t>Los Angeles County | 2019-2024 | Faculty research update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097280"/>
            <a:ext cx="3794760" cy="4114800"/>
          </a:xfrm>
          <a:prstGeom prst="roundRect">
            <a:avLst>
              <a:gd name="adj" fmla="val 8000"/>
            </a:avLst>
          </a:prstGeom>
          <a:solidFill>
            <a:srgbClr val="E1F2EF"/>
          </a:solidFill>
          <a:ln w="12700">
            <a:solidFill>
              <a:srgbClr val="1F7B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481328"/>
            <a:ext cx="30175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7B75"/>
                </a:solidFill>
                <a:latin typeface="Aptos"/>
              </a:rPr>
              <a:t>VERIFIED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54112" y="1965960"/>
            <a:ext cx="3154680" cy="242316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1F7B75"/>
                </a:solidFill>
                <a:latin typeface="Aptos"/>
              </a:rPr>
              <a:t>Input  </a:t>
            </a:r>
            <a:r>
              <a:rPr sz="1700">
                <a:solidFill>
                  <a:srgbClr val="1D2630"/>
                </a:solidFill>
                <a:latin typeface="Aptos"/>
              </a:rPr>
              <a:t>168 hours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7B75"/>
                </a:solidFill>
                <a:latin typeface="Aptos"/>
              </a:rPr>
              <a:t>Output  </a:t>
            </a:r>
            <a:r>
              <a:rPr sz="1700">
                <a:solidFill>
                  <a:srgbClr val="1D2630"/>
                </a:solidFill>
                <a:latin typeface="Aptos"/>
              </a:rPr>
              <a:t>24 hourly PM2.5 values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7B75"/>
                </a:solidFill>
                <a:latin typeface="Aptos"/>
              </a:rPr>
              <a:t>Test  </a:t>
            </a:r>
            <a:r>
              <a:rPr sz="1700">
                <a:solidFill>
                  <a:srgbClr val="1D2630"/>
                </a:solidFill>
                <a:latin typeface="Aptos"/>
              </a:rPr>
              <a:t>7,199 forecast origins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C08523"/>
                </a:solidFill>
                <a:latin typeface="Aptos"/>
              </a:rPr>
              <a:t>Best  </a:t>
            </a:r>
            <a:r>
              <a:rPr sz="1700">
                <a:solidFill>
                  <a:srgbClr val="1D2630"/>
                </a:solidFill>
                <a:latin typeface="Aptos"/>
              </a:rPr>
              <a:t>M04 context XGBoost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AE4A5B"/>
                </a:solidFill>
                <a:latin typeface="Aptos"/>
              </a:rPr>
              <a:t>Status  </a:t>
            </a:r>
            <a:r>
              <a:rPr sz="1700">
                <a:solidFill>
                  <a:srgbClr val="1D2630"/>
                </a:solidFill>
                <a:latin typeface="Aptos"/>
              </a:rPr>
              <a:t>Pass with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6199632"/>
            <a:ext cx="5943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566370"/>
                </a:solidFill>
                <a:latin typeface="Aptos"/>
              </a:rPr>
              <a:t>github.com/shasabbir/event-time-raf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78992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1D2630"/>
                </a:solidFill>
                <a:latin typeface="Aptos"/>
              </a:rPr>
              <a:t>Research question and evidence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698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66370"/>
                </a:solidFill>
                <a:latin typeface="Aptos"/>
              </a:rPr>
              <a:t>What the experiment tests, and what it does not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42415"/>
            <a:ext cx="11109960" cy="22860"/>
          </a:xfrm>
          <a:prstGeom prst="rect">
            <a:avLst/>
          </a:prstGeom>
          <a:solidFill>
            <a:srgbClr val="CD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84280" y="320040"/>
            <a:ext cx="365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1F7B75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924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609344"/>
            <a:ext cx="4480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1F7B75"/>
                </a:solidFill>
                <a:latin typeface="Aptos"/>
              </a:rPr>
              <a:t>Research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011680"/>
            <a:ext cx="470916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D2630"/>
                </a:solidFill>
                <a:latin typeface="Aptos"/>
              </a:rPr>
              <a:t>Can source-audited weather, calendar, and storm-event context improve leakage-safe retrieval and forecasting under distribution shift?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346704"/>
            <a:ext cx="4681728" cy="150876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7B75"/>
                </a:solidFill>
                <a:latin typeface="Aptos"/>
              </a:rPr>
              <a:t>Input example:  </a:t>
            </a:r>
            <a:r>
              <a:rPr sz="1500">
                <a:solidFill>
                  <a:srgbClr val="1D2630"/>
                </a:solidFill>
                <a:latin typeface="Aptos"/>
              </a:rPr>
              <a:t>7 days of hourly PM2.5 + aligned context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7B75"/>
                </a:solidFill>
                <a:latin typeface="Aptos"/>
              </a:rPr>
              <a:t>Target:  </a:t>
            </a:r>
            <a:r>
              <a:rPr sz="1500">
                <a:solidFill>
                  <a:srgbClr val="1D2630"/>
                </a:solidFill>
                <a:latin typeface="Aptos"/>
              </a:rPr>
              <a:t>the next 24 hourly PM2.5 values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7B75"/>
                </a:solidFill>
                <a:latin typeface="Aptos"/>
              </a:rPr>
              <a:t>Evaluation:  </a:t>
            </a:r>
            <a:r>
              <a:rPr sz="1500">
                <a:solidFill>
                  <a:srgbClr val="1D2630"/>
                </a:solidFill>
                <a:latin typeface="Aptos"/>
              </a:rPr>
              <a:t>MSE, MAE, RMSE, R² + paired bootstrap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325880"/>
            <a:ext cx="5422392" cy="4892040"/>
          </a:xfrm>
          <a:prstGeom prst="roundRect">
            <a:avLst>
              <a:gd name="adj" fmla="val 8000"/>
            </a:avLst>
          </a:prstGeom>
          <a:solidFill>
            <a:srgbClr val="E3EEF8"/>
          </a:solidFill>
          <a:ln w="12700">
            <a:solidFill>
              <a:srgbClr val="1F7B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609344"/>
            <a:ext cx="4480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1F7B75"/>
                </a:solidFill>
                <a:latin typeface="Aptos"/>
              </a:rPr>
              <a:t>Evidence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4754880" cy="260604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900"/>
              </a:spcAft>
            </a:pPr>
            <a:r>
              <a:rPr sz="1800" b="1">
                <a:solidFill>
                  <a:srgbClr val="1F7B75"/>
                </a:solidFill>
                <a:latin typeface="Aptos"/>
              </a:rPr>
              <a:t>69/69  </a:t>
            </a:r>
            <a:r>
              <a:rPr sz="1800">
                <a:solidFill>
                  <a:srgbClr val="1D2630"/>
                </a:solidFill>
                <a:latin typeface="Aptos"/>
              </a:rPr>
              <a:t>manifest SHA-256 checks pass</a:t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1F7B75"/>
                </a:solidFill>
                <a:latin typeface="Aptos"/>
              </a:rPr>
              <a:t>M00-M11  </a:t>
            </a:r>
            <a:r>
              <a:rPr sz="1800">
                <a:solidFill>
                  <a:srgbClr val="1D2630"/>
                </a:solidFill>
                <a:latin typeface="Aptos"/>
              </a:rPr>
              <a:t>saved predictions reproduced</a:t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AE4A5B"/>
                </a:solidFill>
                <a:latin typeface="Aptos"/>
              </a:rPr>
              <a:t>M12  </a:t>
            </a:r>
            <a:r>
              <a:rPr sz="1800">
                <a:solidFill>
                  <a:srgbClr val="1D2630"/>
                </a:solidFill>
                <a:latin typeface="Aptos"/>
              </a:rPr>
              <a:t>excluded; created after the manifest</a:t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AE4A5B"/>
                </a:solidFill>
                <a:latin typeface="Aptos"/>
              </a:rPr>
              <a:t>Events  </a:t>
            </a:r>
            <a:r>
              <a:rPr sz="1800">
                <a:solidFill>
                  <a:srgbClr val="1D2630"/>
                </a:solidFill>
                <a:latin typeface="Aptos"/>
              </a:rPr>
              <a:t>retrospective, not strict real time</a:t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AE4A5B"/>
                </a:solidFill>
                <a:latin typeface="Aptos"/>
              </a:rPr>
              <a:t>Geography  </a:t>
            </a:r>
            <a:r>
              <a:rPr sz="1800">
                <a:solidFill>
                  <a:srgbClr val="1D2630"/>
                </a:solidFill>
                <a:latin typeface="Aptos"/>
              </a:rPr>
              <a:t>one county; no external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212080"/>
            <a:ext cx="44805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D2630"/>
                </a:solidFill>
                <a:latin typeface="Aptos"/>
              </a:rPr>
              <a:t>No unsupported result remains in the corrected paper.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37960"/>
            <a:ext cx="10789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66370"/>
                </a:solidFill>
                <a:latin typeface="Aptos"/>
              </a:rPr>
              <a:t>Verified against immutable run 20260723T112033170131Z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78992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1D2630"/>
                </a:solidFill>
                <a:latin typeface="Aptos"/>
              </a:rPr>
              <a:t>End-to-end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698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66370"/>
                </a:solidFill>
                <a:latin typeface="Aptos"/>
              </a:rPr>
              <a:t>SACB -&gt; LSER -&gt; DFEH, with an auditable evidence record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42415"/>
            <a:ext cx="11109960" cy="22860"/>
          </a:xfrm>
          <a:prstGeom prst="rect">
            <a:avLst/>
          </a:prstGeom>
          <a:solidFill>
            <a:srgbClr val="CD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84280" y="320040"/>
            <a:ext cx="365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1F7B75"/>
                </a:solidFill>
                <a:latin typeface="Aptos"/>
              </a:rPr>
              <a:t>03</a:t>
            </a:r>
          </a:p>
        </p:txBody>
      </p:sp>
      <p:pic>
        <p:nvPicPr>
          <p:cNvPr id="6" name="Picture 5" descr="event_timeraf_pipelin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882" y="1143000"/>
            <a:ext cx="9677474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37960"/>
            <a:ext cx="10789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66370"/>
                </a:solidFill>
                <a:latin typeface="Aptos"/>
              </a:rPr>
              <a:t>Verified against immutable run 20260723T112033170131Z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78992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1D2630"/>
                </a:solidFill>
                <a:latin typeface="Aptos"/>
              </a:rPr>
              <a:t>Module 1: Source-Audited Context Builder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698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66370"/>
                </a:solidFill>
                <a:latin typeface="Aptos"/>
              </a:rPr>
              <a:t>Source checks, causal alignment, and chronological windows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42415"/>
            <a:ext cx="11109960" cy="22860"/>
          </a:xfrm>
          <a:prstGeom prst="rect">
            <a:avLst/>
          </a:prstGeom>
          <a:solidFill>
            <a:srgbClr val="CD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84280" y="320040"/>
            <a:ext cx="365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1F7B75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3657600" cy="4983480"/>
          </a:xfrm>
          <a:prstGeom prst="roundRect">
            <a:avLst>
              <a:gd name="adj" fmla="val 8000"/>
            </a:avLst>
          </a:prstGeom>
          <a:solidFill>
            <a:srgbClr val="E1F2EF"/>
          </a:solidFill>
          <a:ln w="12700">
            <a:solidFill>
              <a:srgbClr val="1F7B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27632"/>
            <a:ext cx="28346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1F7B75"/>
                </a:solidFill>
                <a:latin typeface="Aptos"/>
              </a:rPr>
              <a:t>Origin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984248"/>
            <a:ext cx="28346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D2630"/>
                </a:solidFill>
                <a:latin typeface="Aptos"/>
              </a:rPr>
              <a:t>qₜ ∈ ℝ⁸⁵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50392" y="2606040"/>
          <a:ext cx="308152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841248"/>
              </a:tblGrid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Feature group</a:t>
                      </a:r>
                    </a:p>
                  </a:txBody>
                  <a:tcPr marL="54864" marR="36576" marT="18288" marB="18288" anchor="ctr">
                    <a:solidFill>
                      <a:srgbClr val="1D26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Count</a:t>
                      </a:r>
                    </a:p>
                  </a:txBody>
                  <a:tcPr marL="54864" marR="36576" marT="18288" marB="18288" anchor="ctr">
                    <a:solidFill>
                      <a:srgbClr val="1D263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PM2.5 history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23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Weather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14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Calendar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Storm event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39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630"/>
                          </a:solidFill>
                          <a:latin typeface="Aptos"/>
                        </a:rPr>
                        <a:t>Total</a:t>
                      </a:r>
                    </a:p>
                  </a:txBody>
                  <a:tcPr marL="54864" marR="36576" marT="18288" marB="18288" anchor="ctr">
                    <a:solidFill>
                      <a:srgbClr val="FAF0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D2630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54864" marR="36576" marT="18288" marB="18288" anchor="ctr">
                    <a:solidFill>
                      <a:srgbClr val="FAF0D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59536" y="5010912"/>
            <a:ext cx="292608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AE4A5B"/>
                </a:solidFill>
                <a:latin typeface="Aptos"/>
              </a:rPr>
              <a:t>Target values are never interpolated. Filling uses past observations only.</a:t>
            </a:r>
          </a:p>
        </p:txBody>
      </p:sp>
      <p:pic>
        <p:nvPicPr>
          <p:cNvPr id="11" name="Picture 10" descr="source_audited_context_bui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865030"/>
            <a:ext cx="7178040" cy="38320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6537960"/>
            <a:ext cx="10789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66370"/>
                </a:solidFill>
                <a:latin typeface="Aptos"/>
              </a:rPr>
              <a:t>Verified against immutable run 20260723T112033170131Z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78992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1D2630"/>
                </a:solidFill>
                <a:latin typeface="Aptos"/>
              </a:rPr>
              <a:t>Module 2: Leakage-Safe Event-Context Retriever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698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66370"/>
                </a:solidFill>
                <a:latin typeface="Aptos"/>
              </a:rPr>
              <a:t>Temporal eligibility before similarity ranking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42415"/>
            <a:ext cx="11109960" cy="22860"/>
          </a:xfrm>
          <a:prstGeom prst="rect">
            <a:avLst/>
          </a:prstGeom>
          <a:solidFill>
            <a:srgbClr val="CD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84280" y="320040"/>
            <a:ext cx="365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1F7B75"/>
                </a:solidFill>
                <a:latin typeface="Aptos"/>
              </a:rPr>
              <a:t>05</a:t>
            </a:r>
          </a:p>
        </p:txBody>
      </p:sp>
      <p:pic>
        <p:nvPicPr>
          <p:cNvPr id="6" name="Picture 5" descr="leakage_safe_event_context_retrie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8383"/>
            <a:ext cx="7452360" cy="397847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65008" y="1335024"/>
            <a:ext cx="3547872" cy="4800600"/>
          </a:xfrm>
          <a:prstGeom prst="roundRect">
            <a:avLst>
              <a:gd name="adj" fmla="val 8000"/>
            </a:avLst>
          </a:prstGeom>
          <a:solidFill>
            <a:srgbClr val="FAF0D5"/>
          </a:solidFill>
          <a:ln w="12700">
            <a:solidFill>
              <a:srgbClr val="C085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627632"/>
            <a:ext cx="28346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C08523"/>
                </a:solidFill>
                <a:latin typeface="Aptos"/>
              </a:rPr>
              <a:t>Embargo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57616" y="2011680"/>
            <a:ext cx="283464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D2630"/>
                </a:solidFill>
                <a:latin typeface="Aptos"/>
              </a:rPr>
              <a:t>candidate target end
&lt; query input start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3127248"/>
            <a:ext cx="28346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C08523"/>
                </a:solidFill>
                <a:latin typeface="Aptos"/>
              </a:rPr>
              <a:t>Hybrid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7616" y="3502152"/>
            <a:ext cx="28803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1D2630"/>
                </a:solidFill>
                <a:latin typeface="Aptos"/>
              </a:rPr>
              <a:t>0.5 shape + 0.2 weather
+ 0.1 calendar + 0.2 event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4709160"/>
            <a:ext cx="2926080" cy="91440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C08523"/>
                </a:solidFill>
                <a:latin typeface="Aptos"/>
              </a:rPr>
              <a:t>KB  </a:t>
            </a:r>
            <a:r>
              <a:rPr sz="1400">
                <a:solidFill>
                  <a:srgbClr val="1D2630"/>
                </a:solidFill>
                <a:latin typeface="Aptos"/>
              </a:rPr>
              <a:t>191 non-overlapping train windows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C08523"/>
                </a:solidFill>
                <a:latin typeface="Aptos"/>
              </a:rPr>
              <a:t>Top-k  </a:t>
            </a:r>
            <a:r>
              <a:rPr sz="1400">
                <a:solidFill>
                  <a:srgbClr val="1D2630"/>
                </a:solidFill>
                <a:latin typeface="Aptos"/>
              </a:rPr>
              <a:t>k = 8; sensitivity {1,4,8,16}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37960"/>
            <a:ext cx="10789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66370"/>
                </a:solidFill>
                <a:latin typeface="Aptos"/>
              </a:rPr>
              <a:t>Verified against immutable run 20260723T112033170131Z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78992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1D2630"/>
                </a:solidFill>
                <a:latin typeface="Aptos"/>
              </a:rPr>
              <a:t>Module 3: Drift-Aware Forecast and Evidence 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698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66370"/>
                </a:solidFill>
                <a:latin typeface="Aptos"/>
              </a:rPr>
              <a:t>Two verified forecast paths; one excluded selector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42415"/>
            <a:ext cx="11109960" cy="22860"/>
          </a:xfrm>
          <a:prstGeom prst="rect">
            <a:avLst/>
          </a:prstGeom>
          <a:solidFill>
            <a:srgbClr val="CD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84280" y="320040"/>
            <a:ext cx="365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1F7B75"/>
                </a:solidFill>
                <a:latin typeface="Aptos"/>
              </a:rPr>
              <a:t>06</a:t>
            </a:r>
          </a:p>
        </p:txBody>
      </p:sp>
      <p:pic>
        <p:nvPicPr>
          <p:cNvPr id="6" name="Picture 5" descr="drift_aware_forecast_evidence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771935"/>
            <a:ext cx="7680960" cy="41005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1316736"/>
            <a:ext cx="3383280" cy="4828032"/>
          </a:xfrm>
          <a:prstGeom prst="roundRect">
            <a:avLst>
              <a:gd name="adj" fmla="val 8000"/>
            </a:avLst>
          </a:prstGeom>
          <a:solidFill>
            <a:srgbClr val="F8E4E7"/>
          </a:solidFill>
          <a:ln w="12700">
            <a:solidFill>
              <a:srgbClr val="AE4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22208" y="1627632"/>
            <a:ext cx="2651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AE4A5B"/>
                </a:solidFill>
                <a:latin typeface="Aptos"/>
              </a:rPr>
              <a:t>Direct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3064" y="1956816"/>
            <a:ext cx="2743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D2630"/>
                </a:solidFill>
                <a:latin typeface="Aptos"/>
              </a:rPr>
              <a:t>24 XGBoost regressors
151 inputs per horizon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22208" y="2907792"/>
            <a:ext cx="2651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AE4A5B"/>
                </a:solidFill>
                <a:latin typeface="Aptos"/>
              </a:rPr>
              <a:t>Frozen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13064" y="3246120"/>
            <a:ext cx="2743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1D2630"/>
                </a:solidFill>
                <a:latin typeface="Aptos"/>
              </a:rPr>
              <a:t>Chronos-Bolt + retrieval
ω selected on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22208" y="4224528"/>
            <a:ext cx="2651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AE4A5B"/>
                </a:solidFill>
                <a:latin typeface="Aptos"/>
              </a:rPr>
              <a:t>Evidence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13064" y="4562856"/>
            <a:ext cx="27432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1D2630"/>
                </a:solidFill>
                <a:latin typeface="Aptos"/>
              </a:rPr>
              <a:t>feature effects, retrieved IDs, event IDs, drift, uncertainty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5449824"/>
            <a:ext cx="27432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AE4A5B"/>
                </a:solidFill>
                <a:latin typeface="Aptos"/>
              </a:rPr>
              <a:t>Drift gate: excluded until a complete manifest-backed rerun.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37960"/>
            <a:ext cx="10789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66370"/>
                </a:solidFill>
                <a:latin typeface="Aptos"/>
              </a:rPr>
              <a:t>Verified against immutable run 20260723T112033170131Z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78992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1D2630"/>
                </a:solidFill>
                <a:latin typeface="Aptos"/>
              </a:rPr>
              <a:t>Experimental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698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66370"/>
                </a:solidFill>
                <a:latin typeface="Aptos"/>
              </a:rPr>
              <a:t>Chronological evaluation and pre-specified model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42415"/>
            <a:ext cx="11109960" cy="22860"/>
          </a:xfrm>
          <a:prstGeom prst="rect">
            <a:avLst/>
          </a:prstGeom>
          <a:solidFill>
            <a:srgbClr val="CD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84280" y="320040"/>
            <a:ext cx="365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1F7B75"/>
                </a:solidFill>
                <a:latin typeface="Apto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07592"/>
            <a:ext cx="3675887" cy="4828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DD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18488"/>
            <a:ext cx="29260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1F7B75"/>
                </a:solidFill>
                <a:latin typeface="Aptos"/>
              </a:rPr>
              <a:t>Data split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12344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D2630"/>
                </a:solidFill>
                <a:latin typeface="Aptos"/>
              </a:rPr>
              <a:t>34,020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2139696"/>
            <a:ext cx="1188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66370"/>
                </a:solidFill>
                <a:latin typeface="Aptos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12344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D2630"/>
                </a:solidFill>
                <a:latin typeface="Aptos"/>
              </a:rPr>
              <a:t>7,113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779776"/>
            <a:ext cx="1371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66370"/>
                </a:solidFill>
                <a:latin typeface="Aptos"/>
              </a:rPr>
              <a:t>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337560"/>
            <a:ext cx="12344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D2630"/>
                </a:solidFill>
                <a:latin typeface="Aptos"/>
              </a:rPr>
              <a:t>7,199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3419856"/>
            <a:ext cx="1188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66370"/>
                </a:solidFill>
                <a:latin typeface="Aptos"/>
              </a:rPr>
              <a:t>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96512"/>
            <a:ext cx="25603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C08523"/>
                </a:solidFill>
                <a:latin typeface="Aptos"/>
              </a:rPr>
              <a:t>172,776 test 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709160"/>
            <a:ext cx="2834640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D2630"/>
                </a:solidFill>
                <a:latin typeface="Aptos"/>
              </a:rPr>
              <a:t>500 paired block-bootstrap resamples
24-hour blocks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498848" y="1353312"/>
          <a:ext cx="7114032" cy="36758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4752"/>
                <a:gridCol w="5669280"/>
              </a:tblGrid>
              <a:tr h="52512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IDs</a:t>
                      </a:r>
                    </a:p>
                  </a:txBody>
                  <a:tcPr marL="54864" marR="36576" marT="18288" marB="18288" anchor="ctr">
                    <a:solidFill>
                      <a:srgbClr val="1D26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Purpose</a:t>
                      </a:r>
                    </a:p>
                  </a:txBody>
                  <a:tcPr marL="54864" marR="36576" marT="18288" marB="18288" anchor="ctr">
                    <a:solidFill>
                      <a:srgbClr val="1D2630"/>
                    </a:solidFill>
                  </a:tcPr>
                </a:tc>
              </a:tr>
              <a:tr h="52512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D2630"/>
                          </a:solidFill>
                          <a:latin typeface="Aptos"/>
                        </a:rPr>
                        <a:t>M00-M02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630"/>
                          </a:solidFill>
                          <a:latin typeface="Aptos"/>
                        </a:rPr>
                        <a:t>Persistence + seasonal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52512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D2630"/>
                          </a:solidFill>
                          <a:latin typeface="Aptos"/>
                        </a:rPr>
                        <a:t>M03-M04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630"/>
                          </a:solidFill>
                          <a:latin typeface="Aptos"/>
                        </a:rPr>
                        <a:t>XGBoost PM2.5/context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52512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D2630"/>
                          </a:solidFill>
                          <a:latin typeface="Aptos"/>
                        </a:rPr>
                        <a:t>M05-M06</a:t>
                      </a:r>
                    </a:p>
                  </a:txBody>
                  <a:tcPr marL="54864" marR="36576" marT="18288" marB="18288" anchor="ctr">
                    <a:solidFill>
                      <a:srgbClr val="FAF0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D2630"/>
                          </a:solidFill>
                          <a:latin typeface="Aptos"/>
                        </a:rPr>
                        <a:t>Random/cosine retrieval</a:t>
                      </a:r>
                    </a:p>
                  </a:txBody>
                  <a:tcPr marL="54864" marR="36576" marT="18288" marB="18288" anchor="ctr">
                    <a:solidFill>
                      <a:srgbClr val="FAF0D5"/>
                    </a:solidFill>
                  </a:tcPr>
                </a:tc>
              </a:tr>
              <a:tr h="52512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D2630"/>
                          </a:solidFill>
                          <a:latin typeface="Aptos"/>
                        </a:rPr>
                        <a:t>M07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630"/>
                          </a:solidFill>
                          <a:latin typeface="Aptos"/>
                        </a:rPr>
                        <a:t>XGBoost + cosine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52512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D2630"/>
                          </a:solidFill>
                          <a:latin typeface="Aptos"/>
                        </a:rPr>
                        <a:t>M08-M09</a:t>
                      </a:r>
                    </a:p>
                  </a:txBody>
                  <a:tcPr marL="54864" marR="36576" marT="18288" marB="18288" anchor="ctr">
                    <a:solidFill>
                      <a:srgbClr val="E1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D2630"/>
                          </a:solidFill>
                          <a:latin typeface="Aptos"/>
                        </a:rPr>
                        <a:t>Event-TimeRAF no/full drift</a:t>
                      </a:r>
                    </a:p>
                  </a:txBody>
                  <a:tcPr marL="54864" marR="36576" marT="18288" marB="18288" anchor="ctr">
                    <a:solidFill>
                      <a:srgbClr val="E1F2EF"/>
                    </a:solidFill>
                  </a:tcPr>
                </a:tc>
              </a:tr>
              <a:tr h="525131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D2630"/>
                          </a:solidFill>
                          <a:latin typeface="Aptos"/>
                        </a:rPr>
                        <a:t>M10-M11</a:t>
                      </a:r>
                    </a:p>
                  </a:txBody>
                  <a:tcPr marL="54864" marR="36576" marT="18288" marB="18288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D2630"/>
                          </a:solidFill>
                          <a:latin typeface="Aptos"/>
                        </a:rPr>
                        <a:t>Frozen Chronos/fusion</a:t>
                      </a:r>
                    </a:p>
                  </a:txBody>
                  <a:tcPr marL="54864" marR="36576" marT="18288" marB="18288" anchor="ctr">
                    <a:solidFill>
                      <a:srgbClr val="E3EEF8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53712" y="5285232"/>
            <a:ext cx="1097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7B75"/>
                </a:solidFill>
                <a:latin typeface="Aptos"/>
              </a:rPr>
              <a:t>Metrics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5230368"/>
            <a:ext cx="57150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1D2630"/>
                </a:solidFill>
                <a:latin typeface="Aptos"/>
              </a:rPr>
              <a:t>MSE: large-error penalty | MAE: absolute error | RMSE: PM2.5 units | R²: explained variation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37960"/>
            <a:ext cx="10789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66370"/>
                </a:solidFill>
                <a:latin typeface="Aptos"/>
              </a:rPr>
              <a:t>Verified against immutable run 20260723T112033170131Z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78992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1D2630"/>
                </a:solidFill>
                <a:latin typeface="Aptos"/>
              </a:rPr>
              <a:t>Verified test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698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66370"/>
                </a:solidFill>
                <a:latin typeface="Aptos"/>
              </a:rPr>
              <a:t>The strongest verified model is the context baseline M04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42415"/>
            <a:ext cx="11109960" cy="22860"/>
          </a:xfrm>
          <a:prstGeom prst="rect">
            <a:avLst/>
          </a:prstGeom>
          <a:solidFill>
            <a:srgbClr val="CD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84280" y="320040"/>
            <a:ext cx="365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1F7B75"/>
                </a:solidFill>
                <a:latin typeface="Aptos"/>
              </a:rPr>
              <a:t>08</a:t>
            </a:r>
          </a:p>
        </p:txBody>
      </p:sp>
      <p:pic>
        <p:nvPicPr>
          <p:cNvPr id="6" name="Picture 5" descr="main_mse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2631"/>
            <a:ext cx="6995160" cy="375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99248" y="1389888"/>
            <a:ext cx="3913632" cy="4663440"/>
          </a:xfrm>
          <a:prstGeom prst="roundRect">
            <a:avLst>
              <a:gd name="adj" fmla="val 8000"/>
            </a:avLst>
          </a:prstGeom>
          <a:solidFill>
            <a:srgbClr val="E1F2EF"/>
          </a:solidFill>
          <a:ln w="12700">
            <a:solidFill>
              <a:srgbClr val="1F7B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1691640"/>
            <a:ext cx="30632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1F7B75"/>
                </a:solidFill>
                <a:latin typeface="Aptos"/>
              </a:rPr>
              <a:t>Key results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19288" y="2157984"/>
          <a:ext cx="3246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822960"/>
                <a:gridCol w="82296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marL="54864" marR="36576" marT="18288" marB="18288" anchor="ctr">
                    <a:solidFill>
                      <a:srgbClr val="1D26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MSE</a:t>
                      </a:r>
                    </a:p>
                  </a:txBody>
                  <a:tcPr marL="54864" marR="36576" marT="18288" marB="18288" anchor="ctr">
                    <a:solidFill>
                      <a:srgbClr val="1D26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MAE</a:t>
                      </a:r>
                    </a:p>
                  </a:txBody>
                  <a:tcPr marL="54864" marR="36576" marT="18288" marB="18288" anchor="ctr">
                    <a:solidFill>
                      <a:srgbClr val="1D26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630"/>
                          </a:solidFill>
                          <a:latin typeface="Aptos"/>
                        </a:rPr>
                        <a:t>M04 context</a:t>
                      </a:r>
                    </a:p>
                  </a:txBody>
                  <a:tcPr marL="54864" marR="36576" marT="18288" marB="18288" anchor="ctr">
                    <a:solidFill>
                      <a:srgbClr val="E5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D2630"/>
                          </a:solidFill>
                          <a:latin typeface="Aptos"/>
                        </a:rPr>
                        <a:t>26.185</a:t>
                      </a:r>
                    </a:p>
                  </a:txBody>
                  <a:tcPr marL="54864" marR="36576" marT="18288" marB="18288" anchor="ctr">
                    <a:solidFill>
                      <a:srgbClr val="E5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D2630"/>
                          </a:solidFill>
                          <a:latin typeface="Aptos"/>
                        </a:rPr>
                        <a:t>3.125</a:t>
                      </a:r>
                    </a:p>
                  </a:txBody>
                  <a:tcPr marL="54864" marR="36576" marT="18288" marB="18288" anchor="ctr">
                    <a:solidFill>
                      <a:srgbClr val="E5F3E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M09 full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26.712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3.149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M10 Chronos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28.941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3.205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M11 fusion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28.709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630"/>
                          </a:solidFill>
                          <a:latin typeface="Aptos"/>
                        </a:rPr>
                        <a:t>3.209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28431" y="4498848"/>
            <a:ext cx="30175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C08523"/>
                </a:solidFill>
                <a:latin typeface="Aptos"/>
              </a:rPr>
              <a:t>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9288" y="4846320"/>
            <a:ext cx="315468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D2630"/>
                </a:solidFill>
                <a:latin typeface="Aptos"/>
              </a:rPr>
              <a:t>M09 does not beat M04 overall. M11 improves M10 MSE slightly, but not conclusively.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37960"/>
            <a:ext cx="10789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66370"/>
                </a:solidFill>
                <a:latin typeface="Aptos"/>
              </a:rPr>
              <a:t>Verified against immutable run 20260723T112033170131Z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78992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1D2630"/>
                </a:solidFill>
                <a:latin typeface="Aptos"/>
              </a:rPr>
              <a:t>Ablation study, run for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698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66370"/>
                </a:solidFill>
                <a:latin typeface="Aptos"/>
              </a:rPr>
              <a:t>Paired MSE differences; negative values favor the first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42415"/>
            <a:ext cx="11109960" cy="22860"/>
          </a:xfrm>
          <a:prstGeom prst="rect">
            <a:avLst/>
          </a:prstGeom>
          <a:solidFill>
            <a:srgbClr val="CD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84280" y="320040"/>
            <a:ext cx="365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1F7B75"/>
                </a:solidFill>
                <a:latin typeface="Aptos"/>
              </a:rPr>
              <a:t>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5216" y="1298448"/>
          <a:ext cx="1101852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051560"/>
                <a:gridCol w="2331720"/>
                <a:gridCol w="3611880"/>
              </a:tblGrid>
              <a:tr h="53149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Comparison</a:t>
                      </a:r>
                    </a:p>
                  </a:txBody>
                  <a:tcPr marL="54864" marR="36576" marT="18288" marB="18288" anchor="ctr">
                    <a:solidFill>
                      <a:srgbClr val="1D26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ΔMSE</a:t>
                      </a:r>
                    </a:p>
                  </a:txBody>
                  <a:tcPr marL="54864" marR="36576" marT="18288" marB="18288" anchor="ctr">
                    <a:solidFill>
                      <a:srgbClr val="1D26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95% interval</a:t>
                      </a:r>
                    </a:p>
                  </a:txBody>
                  <a:tcPr marL="54864" marR="36576" marT="18288" marB="18288" anchor="ctr">
                    <a:solidFill>
                      <a:srgbClr val="1D26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Conclusion</a:t>
                      </a:r>
                    </a:p>
                  </a:txBody>
                  <a:tcPr marL="54864" marR="36576" marT="18288" marB="18288" anchor="ctr">
                    <a:solidFill>
                      <a:srgbClr val="1D2630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630"/>
                          </a:solidFill>
                          <a:latin typeface="Aptos"/>
                        </a:rPr>
                        <a:t>M04 - M03: weather/calendar</a:t>
                      </a:r>
                    </a:p>
                  </a:txBody>
                  <a:tcPr marL="54864" marR="36576" marT="18288" marB="18288" anchor="ctr">
                    <a:solidFill>
                      <a:srgbClr val="E5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D2630"/>
                          </a:solidFill>
                          <a:latin typeface="Aptos"/>
                        </a:rPr>
                        <a:t>-3.764</a:t>
                      </a:r>
                    </a:p>
                  </a:txBody>
                  <a:tcPr marL="54864" marR="36576" marT="18288" marB="18288" anchor="ctr">
                    <a:solidFill>
                      <a:srgbClr val="E5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D2630"/>
                          </a:solidFill>
                          <a:latin typeface="Aptos"/>
                        </a:rPr>
                        <a:t>[-5.856, -2.071]</a:t>
                      </a:r>
                    </a:p>
                  </a:txBody>
                  <a:tcPr marL="54864" marR="36576" marT="18288" marB="18288" anchor="ctr">
                    <a:solidFill>
                      <a:srgbClr val="E5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D2630"/>
                          </a:solidFill>
                          <a:latin typeface="Aptos"/>
                        </a:rPr>
                        <a:t>clear gain</a:t>
                      </a:r>
                    </a:p>
                  </a:txBody>
                  <a:tcPr marL="54864" marR="36576" marT="18288" marB="18288" anchor="ctr">
                    <a:solidFill>
                      <a:srgbClr val="E5F3E8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630"/>
                          </a:solidFill>
                          <a:latin typeface="Aptos"/>
                        </a:rPr>
                        <a:t>M06 - M05: cosine/random</a:t>
                      </a:r>
                    </a:p>
                  </a:txBody>
                  <a:tcPr marL="54864" marR="36576" marT="18288" marB="18288" anchor="ctr">
                    <a:solidFill>
                      <a:srgbClr val="E5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D2630"/>
                          </a:solidFill>
                          <a:latin typeface="Aptos"/>
                        </a:rPr>
                        <a:t>-4.284</a:t>
                      </a:r>
                    </a:p>
                  </a:txBody>
                  <a:tcPr marL="54864" marR="36576" marT="18288" marB="18288" anchor="ctr">
                    <a:solidFill>
                      <a:srgbClr val="E5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D2630"/>
                          </a:solidFill>
                          <a:latin typeface="Aptos"/>
                        </a:rPr>
                        <a:t>[-5.862, -2.759]</a:t>
                      </a:r>
                    </a:p>
                  </a:txBody>
                  <a:tcPr marL="54864" marR="36576" marT="18288" marB="18288" anchor="ctr">
                    <a:solidFill>
                      <a:srgbClr val="E5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D2630"/>
                          </a:solidFill>
                          <a:latin typeface="Aptos"/>
                        </a:rPr>
                        <a:t>clear gain</a:t>
                      </a:r>
                    </a:p>
                  </a:txBody>
                  <a:tcPr marL="54864" marR="36576" marT="18288" marB="18288" anchor="ctr">
                    <a:solidFill>
                      <a:srgbClr val="E5F3E8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630"/>
                          </a:solidFill>
                          <a:latin typeface="Aptos"/>
                        </a:rPr>
                        <a:t>M07 - M04: add retrieval</a:t>
                      </a:r>
                    </a:p>
                  </a:txBody>
                  <a:tcPr marL="54864" marR="36576" marT="18288" marB="18288" anchor="ctr">
                    <a:solidFill>
                      <a:srgbClr val="F8E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D2630"/>
                          </a:solidFill>
                          <a:latin typeface="Aptos"/>
                        </a:rPr>
                        <a:t>+0.487</a:t>
                      </a:r>
                    </a:p>
                  </a:txBody>
                  <a:tcPr marL="54864" marR="36576" marT="18288" marB="18288" anchor="ctr">
                    <a:solidFill>
                      <a:srgbClr val="F8E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D2630"/>
                          </a:solidFill>
                          <a:latin typeface="Aptos"/>
                        </a:rPr>
                        <a:t>[0.015, 1.028]</a:t>
                      </a:r>
                    </a:p>
                  </a:txBody>
                  <a:tcPr marL="54864" marR="36576" marT="18288" marB="18288" anchor="ctr">
                    <a:solidFill>
                      <a:srgbClr val="F8E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D2630"/>
                          </a:solidFill>
                          <a:latin typeface="Aptos"/>
                        </a:rPr>
                        <a:t>worse</a:t>
                      </a:r>
                    </a:p>
                  </a:txBody>
                  <a:tcPr marL="54864" marR="36576" marT="18288" marB="18288" anchor="ctr">
                    <a:solidFill>
                      <a:srgbClr val="F8E4E7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D2630"/>
                          </a:solidFill>
                          <a:latin typeface="Aptos"/>
                        </a:rPr>
                        <a:t>M08 - M07: event ranking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630"/>
                          </a:solidFill>
                          <a:latin typeface="Aptos"/>
                        </a:rPr>
                        <a:t>+0.005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630"/>
                          </a:solidFill>
                          <a:latin typeface="Aptos"/>
                        </a:rPr>
                        <a:t>[-0.292, 0.275]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630"/>
                          </a:solidFill>
                          <a:latin typeface="Aptos"/>
                        </a:rPr>
                        <a:t>no clear gain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D2630"/>
                          </a:solidFill>
                          <a:latin typeface="Aptos"/>
                        </a:rPr>
                        <a:t>M09 - M08: drift fields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630"/>
                          </a:solidFill>
                          <a:latin typeface="Aptos"/>
                        </a:rPr>
                        <a:t>+0.035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630"/>
                          </a:solidFill>
                          <a:latin typeface="Aptos"/>
                        </a:rPr>
                        <a:t>[-0.101, 0.161]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630"/>
                          </a:solidFill>
                          <a:latin typeface="Aptos"/>
                        </a:rPr>
                        <a:t>no clear gain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D2630"/>
                          </a:solidFill>
                          <a:latin typeface="Aptos"/>
                        </a:rPr>
                        <a:t>M09 - A00: event context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630"/>
                          </a:solidFill>
                          <a:latin typeface="Aptos"/>
                        </a:rPr>
                        <a:t>+0.083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630"/>
                          </a:solidFill>
                          <a:latin typeface="Aptos"/>
                        </a:rPr>
                        <a:t>[-0.225, 0.354]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630"/>
                          </a:solidFill>
                          <a:latin typeface="Aptos"/>
                        </a:rPr>
                        <a:t>no clear gain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D2630"/>
                          </a:solidFill>
                          <a:latin typeface="Aptos"/>
                        </a:rPr>
                        <a:t>M11 - M10: Chronos fusion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630"/>
                          </a:solidFill>
                          <a:latin typeface="Aptos"/>
                        </a:rPr>
                        <a:t>-0.233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630"/>
                          </a:solidFill>
                          <a:latin typeface="Aptos"/>
                        </a:rPr>
                        <a:t>[-0.665, 0.152]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630"/>
                          </a:solidFill>
                          <a:latin typeface="Aptos"/>
                        </a:rPr>
                        <a:t>favorable, uncertain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1792" y="5715000"/>
            <a:ext cx="10972800" cy="530352"/>
          </a:xfrm>
          <a:prstGeom prst="roundRect">
            <a:avLst>
              <a:gd name="adj" fmla="val 8000"/>
            </a:avLst>
          </a:prstGeom>
          <a:solidFill>
            <a:srgbClr val="FAF0D5"/>
          </a:solidFill>
          <a:ln w="12700">
            <a:solidFill>
              <a:srgbClr val="C085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788152"/>
            <a:ext cx="104698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D2630"/>
                </a:solidFill>
                <a:latin typeface="Aptos"/>
              </a:rPr>
              <a:t>Justified: audited context and cosine ranking. Not justified: a uniform gain from event, drift, or retrieval features on top of M04.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537960"/>
            <a:ext cx="10789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66370"/>
                </a:solidFill>
                <a:latin typeface="Aptos"/>
              </a:rPr>
              <a:t>Verified against immutable run 20260723T112033170131Z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78992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1D2630"/>
                </a:solidFill>
                <a:latin typeface="Aptos"/>
              </a:rPr>
              <a:t>Explainability and scope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698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66370"/>
                </a:solidFill>
                <a:latin typeface="Aptos"/>
              </a:rPr>
              <a:t>Traceable records without overclaiming operational readiness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42415"/>
            <a:ext cx="11109960" cy="22860"/>
          </a:xfrm>
          <a:prstGeom prst="rect">
            <a:avLst/>
          </a:prstGeom>
          <a:solidFill>
            <a:srgbClr val="CD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84280" y="320040"/>
            <a:ext cx="365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1F7B75"/>
                </a:solidFill>
                <a:latin typeface="Aptos"/>
              </a:rPr>
              <a:t>10</a:t>
            </a:r>
          </a:p>
        </p:txBody>
      </p:sp>
      <p:pic>
        <p:nvPicPr>
          <p:cNvPr id="6" name="Picture 5" descr="forecast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3672"/>
            <a:ext cx="5760720" cy="230251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663440"/>
            <a:ext cx="5486400" cy="1325880"/>
          </a:xfrm>
          <a:prstGeom prst="roundRect">
            <a:avLst>
              <a:gd name="adj" fmla="val 8000"/>
            </a:avLst>
          </a:prstGeom>
          <a:solidFill>
            <a:srgbClr val="E3EEF8"/>
          </a:solidFill>
          <a:ln w="12700">
            <a:solidFill>
              <a:srgbClr val="1F7B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901184"/>
            <a:ext cx="443484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1F7B75"/>
                </a:solidFill>
                <a:latin typeface="Aptos"/>
              </a:rPr>
              <a:t>7,199 evidence 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0096"/>
            <a:ext cx="48006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D2630"/>
                </a:solidFill>
                <a:latin typeface="Aptos"/>
              </a:rPr>
              <a:t>Top XGBoost effects | retrieved IDs | event IDs | drift score | uncertainty proxy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261872"/>
            <a:ext cx="5120640" cy="4736592"/>
          </a:xfrm>
          <a:prstGeom prst="roundRect">
            <a:avLst>
              <a:gd name="adj" fmla="val 8000"/>
            </a:avLst>
          </a:prstGeom>
          <a:solidFill>
            <a:srgbClr val="F8E4E7"/>
          </a:solidFill>
          <a:ln w="12700">
            <a:solidFill>
              <a:srgbClr val="AE4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1424" y="1600200"/>
            <a:ext cx="41605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AE4A5B"/>
                </a:solidFill>
                <a:latin typeface="Aptos"/>
              </a:rPr>
              <a:t>Claims that remain limited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212848"/>
            <a:ext cx="4389120" cy="269748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AE4A5B"/>
                </a:solidFill>
                <a:latin typeface="Aptos"/>
              </a:rPr>
              <a:t>Event timing  </a:t>
            </a:r>
            <a:r>
              <a:rPr sz="1600">
                <a:solidFill>
                  <a:srgbClr val="1D2630"/>
                </a:solidFill>
                <a:latin typeface="Aptos"/>
              </a:rPr>
              <a:t>no publication timestamps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AE4A5B"/>
                </a:solidFill>
                <a:latin typeface="Aptos"/>
              </a:rPr>
              <a:t>External validity  </a:t>
            </a:r>
            <a:r>
              <a:rPr sz="1600">
                <a:solidFill>
                  <a:srgbClr val="1D2630"/>
                </a:solidFill>
                <a:latin typeface="Aptos"/>
              </a:rPr>
              <a:t>one county only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AE4A5B"/>
                </a:solidFill>
                <a:latin typeface="Aptos"/>
              </a:rPr>
              <a:t>Random replay  </a:t>
            </a:r>
            <a:r>
              <a:rPr sz="1600">
                <a:solidFill>
                  <a:srgbClr val="1D2630"/>
                </a:solidFill>
                <a:latin typeface="Aptos"/>
              </a:rPr>
              <a:t>requires NumPy 2.0.2 or saved evidence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AE4A5B"/>
                </a:solidFill>
                <a:latin typeface="Aptos"/>
              </a:rPr>
              <a:t>Efficiency  </a:t>
            </a:r>
            <a:r>
              <a:rPr sz="1600">
                <a:solidFill>
                  <a:srgbClr val="1D2630"/>
                </a:solidFill>
                <a:latin typeface="Aptos"/>
              </a:rPr>
              <a:t>hardware identifiers were not recorded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AE4A5B"/>
                </a:solidFill>
                <a:latin typeface="Aptos"/>
              </a:rPr>
              <a:t>TimeRAF scope  </a:t>
            </a:r>
            <a:r>
              <a:rPr sz="1600">
                <a:solidFill>
                  <a:srgbClr val="1D2630"/>
                </a:solidFill>
                <a:latin typeface="Aptos"/>
              </a:rPr>
              <a:t>no learned dual encoder or Channel Prompting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5248656"/>
            <a:ext cx="41605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1D2630"/>
                </a:solidFill>
                <a:latin typeface="Aptos"/>
              </a:rPr>
              <a:t>These are reported limitations, not hidden failures.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37960"/>
            <a:ext cx="10789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66370"/>
                </a:solidFill>
                <a:latin typeface="Aptos"/>
              </a:rPr>
              <a:t>Verified against immutable run 20260723T112033170131Z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78992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1D2630"/>
                </a:solidFill>
                <a:latin typeface="Aptos"/>
              </a:rPr>
              <a:t>What changed after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698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66370"/>
                </a:solidFill>
                <a:latin typeface="Aptos"/>
              </a:rPr>
              <a:t>Live notebook: notebooks/03_paper_claim_verification.ipynb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42415"/>
            <a:ext cx="11109960" cy="22860"/>
          </a:xfrm>
          <a:prstGeom prst="rect">
            <a:avLst/>
          </a:prstGeom>
          <a:solidFill>
            <a:srgbClr val="CD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84280" y="320040"/>
            <a:ext cx="365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1F7B75"/>
                </a:solidFill>
                <a:latin typeface="Aptos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98448"/>
          <a:ext cx="653796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5808"/>
                <a:gridCol w="3502152"/>
              </a:tblGrid>
              <a:tr h="6309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AI draft</a:t>
                      </a:r>
                    </a:p>
                  </a:txBody>
                  <a:tcPr marL="54864" marR="36576" marT="18288" marB="18288" anchor="ctr">
                    <a:solidFill>
                      <a:srgbClr val="1D26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Verified correction</a:t>
                      </a:r>
                    </a:p>
                  </a:txBody>
                  <a:tcPr marL="54864" marR="36576" marT="18288" marB="18288" anchor="ctr">
                    <a:solidFill>
                      <a:srgbClr val="1D2630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D2630"/>
                          </a:solidFill>
                          <a:latin typeface="Aptos"/>
                        </a:rPr>
                        <a:t>86 context / 40 event / 152 input</a:t>
                      </a:r>
                    </a:p>
                  </a:txBody>
                  <a:tcPr marL="54864" marR="36576" marT="18288" marB="18288" anchor="ctr">
                    <a:solidFill>
                      <a:srgbClr val="FAF0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D2630"/>
                          </a:solidFill>
                          <a:latin typeface="Aptos"/>
                        </a:rPr>
                        <a:t>85 context / 39 event / 151 input</a:t>
                      </a:r>
                    </a:p>
                  </a:txBody>
                  <a:tcPr marL="54864" marR="36576" marT="18288" marB="18288" anchor="ctr">
                    <a:solidFill>
                      <a:srgbClr val="FAF0D5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D2630"/>
                          </a:solidFill>
                          <a:latin typeface="Aptos"/>
                        </a:rPr>
                        <a:t>M12 as the best final result</a:t>
                      </a:r>
                    </a:p>
                  </a:txBody>
                  <a:tcPr marL="54864" marR="36576" marT="18288" marB="18288" anchor="ctr">
                    <a:solidFill>
                      <a:srgbClr val="F8E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D2630"/>
                          </a:solidFill>
                          <a:latin typeface="Aptos"/>
                        </a:rPr>
                        <a:t>M12 removed: not manifest-backed</a:t>
                      </a:r>
                    </a:p>
                  </a:txBody>
                  <a:tcPr marL="54864" marR="36576" marT="18288" marB="18288" anchor="ctr">
                    <a:solidFill>
                      <a:srgbClr val="F8E4E7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D2630"/>
                          </a:solidFill>
                          <a:latin typeface="Aptos"/>
                        </a:rPr>
                        <a:t>Generic drift equation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630"/>
                          </a:solidFill>
                          <a:latin typeface="Aptos"/>
                        </a:rPr>
                        <a:t>Five statistics + median/MAD + validation threshold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D2630"/>
                          </a:solidFill>
                          <a:latin typeface="Aptos"/>
                        </a:rPr>
                        <a:t>Operational event implication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630"/>
                          </a:solidFill>
                          <a:latin typeface="Aptos"/>
                        </a:rPr>
                        <a:t>Retrospective event sensitivity only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06640" y="1298448"/>
            <a:ext cx="4187952" cy="4526280"/>
          </a:xfrm>
          <a:prstGeom prst="roundRect">
            <a:avLst>
              <a:gd name="adj" fmla="val 8000"/>
            </a:avLst>
          </a:prstGeom>
          <a:solidFill>
            <a:srgbClr val="E1F2EF"/>
          </a:solidFill>
          <a:ln w="12700">
            <a:solidFill>
              <a:srgbClr val="1F7B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35824" y="1627632"/>
            <a:ext cx="33832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F7B75"/>
                </a:solidFill>
                <a:latin typeface="Aptos"/>
              </a:rPr>
              <a:t>Live run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71816" y="2176272"/>
            <a:ext cx="3429000" cy="265176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7B75"/>
                </a:solidFill>
                <a:latin typeface="Aptos"/>
              </a:rPr>
              <a:t>1  </a:t>
            </a:r>
            <a:r>
              <a:rPr sz="1700">
                <a:solidFill>
                  <a:srgbClr val="1D2630"/>
                </a:solidFill>
                <a:latin typeface="Aptos"/>
              </a:rPr>
              <a:t>Verify 69 hashes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7B75"/>
                </a:solidFill>
                <a:latin typeface="Aptos"/>
              </a:rPr>
              <a:t>2  </a:t>
            </a:r>
            <a:r>
              <a:rPr sz="1700">
                <a:solidFill>
                  <a:srgbClr val="1D2630"/>
                </a:solidFill>
                <a:latin typeface="Aptos"/>
              </a:rPr>
              <a:t>Rebuild data and retrieval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7B75"/>
                </a:solidFill>
                <a:latin typeface="Aptos"/>
              </a:rPr>
              <a:t>3  </a:t>
            </a:r>
            <a:r>
              <a:rPr sz="1700">
                <a:solidFill>
                  <a:srgbClr val="1D2630"/>
                </a:solidFill>
                <a:latin typeface="Aptos"/>
              </a:rPr>
              <a:t>Rerun M00-M11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7B75"/>
                </a:solidFill>
                <a:latin typeface="Aptos"/>
              </a:rPr>
              <a:t>4  </a:t>
            </a:r>
            <a:r>
              <a:rPr sz="1700">
                <a:solidFill>
                  <a:srgbClr val="1D2630"/>
                </a:solidFill>
                <a:latin typeface="Aptos"/>
              </a:rPr>
              <a:t>Recompute metrics + ablations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7B75"/>
                </a:solidFill>
                <a:latin typeface="Aptos"/>
              </a:rPr>
              <a:t>5  </a:t>
            </a:r>
            <a:r>
              <a:rPr sz="1700">
                <a:solidFill>
                  <a:srgbClr val="1D2630"/>
                </a:solidFill>
                <a:latin typeface="Aptos"/>
              </a:rPr>
              <a:t>Regenerate nine figures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7B75"/>
                </a:solidFill>
                <a:latin typeface="Aptos"/>
              </a:rPr>
              <a:t>6  </a:t>
            </a:r>
            <a:r>
              <a:rPr sz="1700">
                <a:solidFill>
                  <a:srgbClr val="1D2630"/>
                </a:solidFill>
                <a:latin typeface="Aptos"/>
              </a:rPr>
              <a:t>Pass final claim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4864608"/>
            <a:ext cx="3337560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D2630"/>
                </a:solidFill>
                <a:latin typeface="Aptos"/>
              </a:rPr>
              <a:t>Expected runtime: about 2-3 minutes with the archived ZIP attached.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2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C08523"/>
                </a:solidFill>
                <a:latin typeface="Aptos"/>
              </a:rPr>
              <a:t>Bottom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5193792"/>
            <a:ext cx="603504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D2630"/>
                </a:solidFill>
                <a:latin typeface="Aptos"/>
              </a:rPr>
              <a:t>The study is successful as a reproducible, leakage-audited framework with selective retrieval gains, not as a claim that Event-TimeRAF beats every baseline.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37960"/>
            <a:ext cx="10789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66370"/>
                </a:solidFill>
                <a:latin typeface="Aptos"/>
              </a:rPr>
              <a:t>Notebook, paper, verification log, slides, and source ZIP use the same archived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Event-TimeRAF Verified Presentation</dc:title>
  <dc:subject>Manifest-backed PM2.5 forecasting study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