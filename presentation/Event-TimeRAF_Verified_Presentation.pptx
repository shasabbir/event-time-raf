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 and verified scope. State immediately that M04, not the full M09 model, is the strongest manifest-backed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immutable ZIP as the source of truth. The notebook does not silently choose between conflicting edited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Official sources enter SACB, only train-history candidates enter LSER, and DFEH evaluates direct XGBoost and frozen Chronos paths. Point out that the drift gate is marked unreported.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85 from memory: 23 PM2.5, 14 weather, 9 calendar, 39 event. Explain that 86/40 was an AI draft counting error corrected from actual feature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leakage rule is stricter than candidate origin before query origin. The entire candidate future must end before the query lookback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151: 85 context + 51 retrieval summary + 6 drift fields + 9 future-calendar fields. The five drift components are robust-scaled on training data; the threshold is the validation 0.90 quantile.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model choices and validation decisions precede test examination. Difference A minus B below zero favors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say the proposed full model wins. Say M04 is strongest, Event-TimeRAF is an audited framework, and retrieval gains are selective.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calculated from actual saved predictions. Explain confidence intervals: a crossing of zero means the direction is not conclusive under this bootstrap.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Explainability is a structured evidence record, not a causal explanation. Events are official but retrospective because issue times are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qualified conclusion. Then open the notebook and run all cells. Keep the immutable ZIP in the project root or set FINAL_RUN_ZIP_OVERRIDE.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03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7B75"/>
                </a:solidFill>
                <a:latin typeface="Aptos"/>
              </a:rPr>
              <a:t>EVENT-TIMERAF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400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D2630"/>
                </a:solidFill>
                <a:latin typeface="Aptos"/>
              </a:rPr>
              <a:t>Verified event-aware retrieval for
24-hour PM2.5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154680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66370"/>
                </a:solidFill>
                <a:latin typeface="Aptos"/>
              </a:rPr>
              <a:t>Los Angeles County | 2019-2024 | Faculty research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097280"/>
            <a:ext cx="3794760" cy="4114800"/>
          </a:xfrm>
          <a:prstGeom prst="roundRect">
            <a:avLst>
              <a:gd name="adj" fmla="val 8000"/>
            </a:avLst>
          </a:prstGeom>
          <a:solidFill>
            <a:srgbClr val="E1F2EF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81328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7B75"/>
                </a:solidFill>
                <a:latin typeface="Aptos"/>
              </a:rPr>
              <a:t>VERIFIED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1965960"/>
            <a:ext cx="3154680" cy="242316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Input  </a:t>
            </a:r>
            <a:r>
              <a:rPr sz="1700">
                <a:solidFill>
                  <a:srgbClr val="1D2630"/>
                </a:solidFill>
                <a:latin typeface="Aptos"/>
              </a:rPr>
              <a:t>168 hours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Output  </a:t>
            </a:r>
            <a:r>
              <a:rPr sz="1700">
                <a:solidFill>
                  <a:srgbClr val="1D2630"/>
                </a:solidFill>
                <a:latin typeface="Aptos"/>
              </a:rPr>
              <a:t>24 hourly PM2.5 values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Test  </a:t>
            </a:r>
            <a:r>
              <a:rPr sz="1700">
                <a:solidFill>
                  <a:srgbClr val="1D2630"/>
                </a:solidFill>
                <a:latin typeface="Aptos"/>
              </a:rPr>
              <a:t>7,199 forecast origins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08523"/>
                </a:solidFill>
                <a:latin typeface="Aptos"/>
              </a:rPr>
              <a:t>Best  </a:t>
            </a:r>
            <a:r>
              <a:rPr sz="1700">
                <a:solidFill>
                  <a:srgbClr val="1D2630"/>
                </a:solidFill>
                <a:latin typeface="Aptos"/>
              </a:rPr>
              <a:t>M04 context XGBoost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E4A5B"/>
                </a:solidFill>
                <a:latin typeface="Aptos"/>
              </a:rPr>
              <a:t>Status  </a:t>
            </a:r>
            <a:r>
              <a:rPr sz="1700">
                <a:solidFill>
                  <a:srgbClr val="1D2630"/>
                </a:solidFill>
                <a:latin typeface="Aptos"/>
              </a:rPr>
              <a:t>Pass with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6199632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66370"/>
                </a:solidFill>
                <a:latin typeface="Aptos"/>
              </a:rPr>
              <a:t>github.com/shasabbir/event-time-raf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Research question and evidence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What the experiment tests, and what it does not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534924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11680"/>
            <a:ext cx="47091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D2630"/>
                </a:solidFill>
                <a:latin typeface="Aptos"/>
              </a:rPr>
              <a:t>Can source-audited weather, calendar, and storm-event context improve leakage-safe retrieval and forecasting under distribution shift?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46704"/>
            <a:ext cx="4681728" cy="150876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7B75"/>
                </a:solidFill>
                <a:latin typeface="Aptos"/>
              </a:rPr>
              <a:t>Input example:  </a:t>
            </a:r>
            <a:r>
              <a:rPr sz="1500">
                <a:solidFill>
                  <a:srgbClr val="1D2630"/>
                </a:solidFill>
                <a:latin typeface="Aptos"/>
              </a:rPr>
              <a:t>7 days of hourly PM2.5 + aligned context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7B75"/>
                </a:solidFill>
                <a:latin typeface="Aptos"/>
              </a:rPr>
              <a:t>Target:  </a:t>
            </a:r>
            <a:r>
              <a:rPr sz="1500">
                <a:solidFill>
                  <a:srgbClr val="1D2630"/>
                </a:solidFill>
                <a:latin typeface="Aptos"/>
              </a:rPr>
              <a:t>the next 24 hourly PM2.5 values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7B75"/>
                </a:solidFill>
                <a:latin typeface="Aptos"/>
              </a:rPr>
              <a:t>Evaluation:  </a:t>
            </a:r>
            <a:r>
              <a:rPr sz="1500">
                <a:solidFill>
                  <a:srgbClr val="1D2630"/>
                </a:solidFill>
                <a:latin typeface="Aptos"/>
              </a:rPr>
              <a:t>MSE, MAE, RMSE, R² + paired bootstrap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422392" cy="4892040"/>
          </a:xfrm>
          <a:prstGeom prst="roundRect">
            <a:avLst>
              <a:gd name="adj" fmla="val 8000"/>
            </a:avLst>
          </a:prstGeom>
          <a:solidFill>
            <a:srgbClr val="E3EEF8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9344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80" cy="260604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7B75"/>
                </a:solidFill>
                <a:latin typeface="Aptos"/>
              </a:rPr>
              <a:t>43/43  </a:t>
            </a:r>
            <a:r>
              <a:rPr sz="1800">
                <a:solidFill>
                  <a:srgbClr val="1D2630"/>
                </a:solidFill>
                <a:latin typeface="Aptos"/>
              </a:rPr>
              <a:t>manifest SHA-256 checks pass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7B75"/>
                </a:solidFill>
                <a:latin typeface="Aptos"/>
              </a:rPr>
              <a:t>M00-M11  </a:t>
            </a:r>
            <a:r>
              <a:rPr sz="1800">
                <a:solidFill>
                  <a:srgbClr val="1D2630"/>
                </a:solidFill>
                <a:latin typeface="Aptos"/>
              </a:rPr>
              <a:t>saved predictions reproduced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AE4A5B"/>
                </a:solidFill>
                <a:latin typeface="Aptos"/>
              </a:rPr>
              <a:t>M12  </a:t>
            </a:r>
            <a:r>
              <a:rPr sz="1800">
                <a:solidFill>
                  <a:srgbClr val="1D2630"/>
                </a:solidFill>
                <a:latin typeface="Aptos"/>
              </a:rPr>
              <a:t>excluded; created after the manifest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AE4A5B"/>
                </a:solidFill>
                <a:latin typeface="Aptos"/>
              </a:rPr>
              <a:t>Events  </a:t>
            </a:r>
            <a:r>
              <a:rPr sz="1800">
                <a:solidFill>
                  <a:srgbClr val="1D2630"/>
                </a:solidFill>
                <a:latin typeface="Aptos"/>
              </a:rPr>
              <a:t>retrospective, not strict real time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AE4A5B"/>
                </a:solidFill>
                <a:latin typeface="Aptos"/>
              </a:rPr>
              <a:t>Geography  </a:t>
            </a:r>
            <a:r>
              <a:rPr sz="1800">
                <a:solidFill>
                  <a:srgbClr val="1D2630"/>
                </a:solidFill>
                <a:latin typeface="Aptos"/>
              </a:rPr>
              <a:t>one county; no external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212080"/>
            <a:ext cx="4480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D2630"/>
                </a:solidFill>
                <a:latin typeface="Aptos"/>
              </a:rPr>
              <a:t>No unsupported result remains in the corrected paper.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End-to-end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SACB -&gt; LSER -&gt; DFEH, with an auditable evidence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event_timeraf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82" y="1143000"/>
            <a:ext cx="967747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Module 1: Source-Audited Context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Source checks, causal alignment, and chronological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E1F2EF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Origin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D2630"/>
                </a:solidFill>
                <a:latin typeface="Aptos"/>
              </a:rPr>
              <a:t>qₜ ∈ ℝ⁸⁵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0392" y="2606040"/>
          <a:ext cx="308152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41248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Feature group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PM2.5 history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23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Weather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Calendar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Storm event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630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630"/>
                          </a:solidFill>
                          <a:latin typeface="Aptos"/>
                        </a:rPr>
                        <a:t>85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" y="5010912"/>
            <a:ext cx="29260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E4A5B"/>
                </a:solidFill>
                <a:latin typeface="Aptos"/>
              </a:rPr>
              <a:t>Target values are never interpolated. Filling uses past observations only.</a:t>
            </a:r>
          </a:p>
        </p:txBody>
      </p:sp>
      <p:pic>
        <p:nvPicPr>
          <p:cNvPr id="11" name="Picture 10" descr="source_audited_context_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65030"/>
            <a:ext cx="7178040" cy="38320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D2630"/>
                </a:solidFill>
                <a:latin typeface="Aptos"/>
              </a:rPr>
              <a:t>Module 2: Leakage-Safe Event-Context Retriever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Temporal eligibility before similarity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leakage_safe_event_context_retri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8383"/>
            <a:ext cx="7452360" cy="39784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65008" y="1335024"/>
            <a:ext cx="3547872" cy="4800600"/>
          </a:xfrm>
          <a:prstGeom prst="roundRect">
            <a:avLst>
              <a:gd name="adj" fmla="val 8000"/>
            </a:avLst>
          </a:prstGeom>
          <a:solidFill>
            <a:srgbClr val="FAF0D5"/>
          </a:solidFill>
          <a:ln w="12700">
            <a:solidFill>
              <a:srgbClr val="C0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62763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08523"/>
                </a:solidFill>
                <a:latin typeface="Aptos"/>
              </a:rPr>
              <a:t>Embargo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011680"/>
            <a:ext cx="28346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D2630"/>
                </a:solidFill>
                <a:latin typeface="Aptos"/>
              </a:rPr>
              <a:t>candidate target end
&lt; query input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12724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08523"/>
                </a:solidFill>
                <a:latin typeface="Aptos"/>
              </a:rPr>
              <a:t>Hybrid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3502152"/>
            <a:ext cx="28803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D2630"/>
                </a:solidFill>
                <a:latin typeface="Aptos"/>
              </a:rPr>
              <a:t>0.5 shape + 0.2 weather
+ 0.1 calendar + 0.2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4709160"/>
            <a:ext cx="2926080" cy="91440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C08523"/>
                </a:solidFill>
                <a:latin typeface="Aptos"/>
              </a:rPr>
              <a:t>KB  </a:t>
            </a:r>
            <a:r>
              <a:rPr sz="1400">
                <a:solidFill>
                  <a:srgbClr val="1D2630"/>
                </a:solidFill>
                <a:latin typeface="Aptos"/>
              </a:rPr>
              <a:t>191 non-overlapping train windows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8523"/>
                </a:solidFill>
                <a:latin typeface="Aptos"/>
              </a:rPr>
              <a:t>Top-k  </a:t>
            </a:r>
            <a:r>
              <a:rPr sz="1400">
                <a:solidFill>
                  <a:srgbClr val="1D2630"/>
                </a:solidFill>
                <a:latin typeface="Aptos"/>
              </a:rPr>
              <a:t>k = 8; sensitivity {1,4,8,16}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D2630"/>
                </a:solidFill>
                <a:latin typeface="Aptos"/>
              </a:rPr>
              <a:t>Module 3: Drift-Aware Forecast and Evidence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Two verified forecast paths; one excluded selector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drift_aware_forecast_evidence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71935"/>
            <a:ext cx="7680960" cy="410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16736"/>
            <a:ext cx="3383280" cy="4828032"/>
          </a:xfrm>
          <a:prstGeom prst="roundRect">
            <a:avLst>
              <a:gd name="adj" fmla="val 8000"/>
            </a:avLst>
          </a:prstGeom>
          <a:solidFill>
            <a:srgbClr val="F8E4E7"/>
          </a:solidFill>
          <a:ln w="12700">
            <a:solidFill>
              <a:srgbClr val="AE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22208" y="1627632"/>
            <a:ext cx="2651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AE4A5B"/>
                </a:solidFill>
                <a:latin typeface="Aptos"/>
              </a:rPr>
              <a:t>Direct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064" y="1956816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D2630"/>
                </a:solidFill>
                <a:latin typeface="Aptos"/>
              </a:rPr>
              <a:t>24 XGBoost regressors
151 inputs per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2907792"/>
            <a:ext cx="2651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AE4A5B"/>
                </a:solidFill>
                <a:latin typeface="Aptos"/>
              </a:rPr>
              <a:t>Frozen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064" y="324612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1D2630"/>
                </a:solidFill>
                <a:latin typeface="Aptos"/>
              </a:rPr>
              <a:t>Chronos-Bolt + retrieval
ω selected on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4224528"/>
            <a:ext cx="2651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AE4A5B"/>
                </a:solidFill>
                <a:latin typeface="Aptos"/>
              </a:rPr>
              <a:t>Evidence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4562856"/>
            <a:ext cx="27432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D2630"/>
                </a:solidFill>
                <a:latin typeface="Aptos"/>
              </a:rPr>
              <a:t>feature effects, retrieved IDs, event IDs, drift,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449824"/>
            <a:ext cx="27432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E4A5B"/>
                </a:solidFill>
                <a:latin typeface="Aptos"/>
              </a:rPr>
              <a:t>Drift gate: excluded until a complete manifest-backed rerun.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Experimental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Chronological evaluation and pre-specified model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07592"/>
            <a:ext cx="3675887" cy="4828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Data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D2630"/>
                </a:solidFill>
                <a:latin typeface="Aptos"/>
              </a:rPr>
              <a:t>34,020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139696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66370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D2630"/>
                </a:solidFill>
                <a:latin typeface="Aptos"/>
              </a:rPr>
              <a:t>7,113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779776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66370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D2630"/>
                </a:solidFill>
                <a:latin typeface="Aptos"/>
              </a:rPr>
              <a:t>7,199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419856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66370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9651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08523"/>
                </a:solidFill>
                <a:latin typeface="Aptos"/>
              </a:rPr>
              <a:t>172,776 test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283464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D2630"/>
                </a:solidFill>
                <a:latin typeface="Aptos"/>
              </a:rPr>
              <a:t>500 paired block-bootstrap resamples
24-hour blocks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498848" y="1353312"/>
          <a:ext cx="7114032" cy="367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  <a:gridCol w="5669280"/>
              </a:tblGrid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IDs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</a:tr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M00-M02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Persistence + seasonal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M03-M04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XGBoost PM2.5/context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M05-M06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Random/cosine retrieval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</a:tr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M07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XGBoost + cosine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512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M08-M09</a:t>
                      </a:r>
                    </a:p>
                  </a:txBody>
                  <a:tcPr marL="54864" marR="36576" marT="18288" marB="18288" anchor="ctr">
                    <a:solidFill>
                      <a:srgbClr val="E1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Event-TimeRAF no/full drift</a:t>
                      </a:r>
                    </a:p>
                  </a:txBody>
                  <a:tcPr marL="54864" marR="36576" marT="18288" marB="18288" anchor="ctr">
                    <a:solidFill>
                      <a:srgbClr val="E1F2EF"/>
                    </a:solidFill>
                  </a:tcPr>
                </a:tc>
              </a:tr>
              <a:tr h="52513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M10-M11</a:t>
                      </a:r>
                    </a:p>
                  </a:txBody>
                  <a:tcPr marL="54864" marR="36576" marT="18288" marB="18288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Frozen Chronos/fusion</a:t>
                      </a:r>
                    </a:p>
                  </a:txBody>
                  <a:tcPr marL="54864" marR="36576" marT="18288" marB="18288"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53712" y="528523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7B75"/>
                </a:solidFill>
                <a:latin typeface="Aptos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230368"/>
            <a:ext cx="5715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D2630"/>
                </a:solidFill>
                <a:latin typeface="Aptos"/>
              </a:rPr>
              <a:t>MSE: large-error penalty | MAE: absolute error | RMSE: PM2.5 units | R²: explained variation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Verified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The strongest verified model is the context baseline M04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main_ms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2631"/>
            <a:ext cx="6995160" cy="375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99248" y="1389888"/>
            <a:ext cx="3913632" cy="4663440"/>
          </a:xfrm>
          <a:prstGeom prst="roundRect">
            <a:avLst>
              <a:gd name="adj" fmla="val 8000"/>
            </a:avLst>
          </a:prstGeom>
          <a:solidFill>
            <a:srgbClr val="E1F2EF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691640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Key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19288" y="2157984"/>
          <a:ext cx="3246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82296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MSE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630"/>
                          </a:solidFill>
                          <a:latin typeface="Aptos"/>
                        </a:rPr>
                        <a:t>M04 context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630"/>
                          </a:solidFill>
                          <a:latin typeface="Aptos"/>
                        </a:rPr>
                        <a:t>26.185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630"/>
                          </a:solidFill>
                          <a:latin typeface="Aptos"/>
                        </a:rPr>
                        <a:t>3.125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M09 full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26.712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3.149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M10 Chronos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28.941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3.205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M11 fusion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28.709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630"/>
                          </a:solidFill>
                          <a:latin typeface="Aptos"/>
                        </a:rPr>
                        <a:t>3.209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8431" y="4498848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08523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4846320"/>
            <a:ext cx="31546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D2630"/>
                </a:solidFill>
                <a:latin typeface="Aptos"/>
              </a:rPr>
              <a:t>M09 does not beat M04 overall. M11 improves M10 MSE slightly, but not conclusively.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Ablation study, run for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Paired MSE differences; negative values favor the first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" y="1298448"/>
          <a:ext cx="110185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051560"/>
                <a:gridCol w="2331720"/>
                <a:gridCol w="3611880"/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Comparison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ΔMSE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95% interval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Conclusion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M04 - M03: weather/calendar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-3.764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[-5.856, -2.071]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clear gain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M06 - M05: cosine/random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-4.284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[-5.862, -2.759]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clear gain</a:t>
                      </a:r>
                    </a:p>
                  </a:txBody>
                  <a:tcPr marL="54864" marR="36576" marT="18288" marB="18288" anchor="ctr">
                    <a:solidFill>
                      <a:srgbClr val="E5F3E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M07 - M04: add retrieval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+0.487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[0.015, 1.028]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630"/>
                          </a:solidFill>
                          <a:latin typeface="Aptos"/>
                        </a:rPr>
                        <a:t>worse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M08 - M07: event ranking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+0.005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[-0.292, 0.275]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no clear gain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M09 - M08: drift fields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+0.035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[-0.101, 0.161]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no clear gain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M09 - A00: event context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+0.083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[-0.225, 0.354]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no clear gain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M11 - M10: Chronos fusion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-0.233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[-0.665, 0.152]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630"/>
                          </a:solidFill>
                          <a:latin typeface="Aptos"/>
                        </a:rPr>
                        <a:t>favorable, uncertain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" y="5715000"/>
            <a:ext cx="10972800" cy="530352"/>
          </a:xfrm>
          <a:prstGeom prst="roundRect">
            <a:avLst>
              <a:gd name="adj" fmla="val 8000"/>
            </a:avLst>
          </a:prstGeom>
          <a:solidFill>
            <a:srgbClr val="FAF0D5"/>
          </a:solidFill>
          <a:ln w="12700">
            <a:solidFill>
              <a:srgbClr val="C0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88152"/>
            <a:ext cx="10469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2630"/>
                </a:solidFill>
                <a:latin typeface="Aptos"/>
              </a:rPr>
              <a:t>Justified: audited context and cosine ranking. Not justified: a uniform gain from event, drift, or retrieval features on top of M04.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Explainability and scope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Traceable records without overclaiming operational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forecast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3672"/>
            <a:ext cx="5760720" cy="2302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6634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E3EEF8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01184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7B75"/>
                </a:solidFill>
                <a:latin typeface="Aptos"/>
              </a:rPr>
              <a:t>7,199 evidence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0096"/>
            <a:ext cx="4800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D2630"/>
                </a:solidFill>
                <a:latin typeface="Aptos"/>
              </a:rPr>
              <a:t>Top XGBoost effects | retrieved IDs | event IDs | drift score | uncertainty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61872"/>
            <a:ext cx="5120640" cy="4736592"/>
          </a:xfrm>
          <a:prstGeom prst="roundRect">
            <a:avLst>
              <a:gd name="adj" fmla="val 8000"/>
            </a:avLst>
          </a:prstGeom>
          <a:solidFill>
            <a:srgbClr val="F8E4E7"/>
          </a:solidFill>
          <a:ln w="12700">
            <a:solidFill>
              <a:srgbClr val="AE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1424" y="1600200"/>
            <a:ext cx="41605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AE4A5B"/>
                </a:solidFill>
                <a:latin typeface="Aptos"/>
              </a:rPr>
              <a:t>Claims that remain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12848"/>
            <a:ext cx="4389120" cy="269748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AE4A5B"/>
                </a:solidFill>
                <a:latin typeface="Aptos"/>
              </a:rPr>
              <a:t>Event timing  </a:t>
            </a:r>
            <a:r>
              <a:rPr sz="1600">
                <a:solidFill>
                  <a:srgbClr val="1D2630"/>
                </a:solidFill>
                <a:latin typeface="Aptos"/>
              </a:rPr>
              <a:t>no publication timestamps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E4A5B"/>
                </a:solidFill>
                <a:latin typeface="Aptos"/>
              </a:rPr>
              <a:t>External validity  </a:t>
            </a:r>
            <a:r>
              <a:rPr sz="1600">
                <a:solidFill>
                  <a:srgbClr val="1D2630"/>
                </a:solidFill>
                <a:latin typeface="Aptos"/>
              </a:rPr>
              <a:t>one county only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E4A5B"/>
                </a:solidFill>
                <a:latin typeface="Aptos"/>
              </a:rPr>
              <a:t>Random replay  </a:t>
            </a:r>
            <a:r>
              <a:rPr sz="1600">
                <a:solidFill>
                  <a:srgbClr val="1D2630"/>
                </a:solidFill>
                <a:latin typeface="Aptos"/>
              </a:rPr>
              <a:t>requires NumPy 2.0.2 or saved evidence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E4A5B"/>
                </a:solidFill>
                <a:latin typeface="Aptos"/>
              </a:rPr>
              <a:t>Efficiency  </a:t>
            </a:r>
            <a:r>
              <a:rPr sz="1600">
                <a:solidFill>
                  <a:srgbClr val="1D2630"/>
                </a:solidFill>
                <a:latin typeface="Aptos"/>
              </a:rPr>
              <a:t>hardware identifiers were not recorded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E4A5B"/>
                </a:solidFill>
                <a:latin typeface="Aptos"/>
              </a:rPr>
              <a:t>TimeRAF scope  </a:t>
            </a:r>
            <a:r>
              <a:rPr sz="1600">
                <a:solidFill>
                  <a:srgbClr val="1D2630"/>
                </a:solidFill>
                <a:latin typeface="Aptos"/>
              </a:rPr>
              <a:t>no learned dual encoder or Channel Prompting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5248656"/>
            <a:ext cx="4160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D2630"/>
                </a:solidFill>
                <a:latin typeface="Aptos"/>
              </a:rPr>
              <a:t>These are reported limitations, not hidden failures.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Verified against immutable run 20260723T112033170131Z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D2630"/>
                </a:solidFill>
                <a:latin typeface="Aptos"/>
              </a:rPr>
              <a:t>What changed after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66370"/>
                </a:solidFill>
                <a:latin typeface="Aptos"/>
              </a:rPr>
              <a:t>Live notebook: notebooks/03_paper_claim_verification.ipynb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2860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365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F7B75"/>
                </a:solidFill>
                <a:latin typeface="Aptos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98448"/>
          <a:ext cx="65379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808"/>
                <a:gridCol w="3502152"/>
              </a:tblGrid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AI draft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Verified correction</a:t>
                      </a:r>
                    </a:p>
                  </a:txBody>
                  <a:tcPr marL="54864" marR="36576" marT="18288" marB="18288" anchor="ctr">
                    <a:solidFill>
                      <a:srgbClr val="1D2630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86 context / 40 event / 152 input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85 context / 39 event / 151 input</a:t>
                      </a:r>
                    </a:p>
                  </a:txBody>
                  <a:tcPr marL="54864" marR="36576" marT="18288" marB="18288" anchor="ctr">
                    <a:solidFill>
                      <a:srgbClr val="FAF0D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M12 as the best final result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2630"/>
                          </a:solidFill>
                          <a:latin typeface="Aptos"/>
                        </a:rPr>
                        <a:t>M12 removed: not manifest-backed</a:t>
                      </a:r>
                    </a:p>
                  </a:txBody>
                  <a:tcPr marL="54864" marR="36576" marT="18288" marB="18288" anchor="ctr">
                    <a:solidFill>
                      <a:srgbClr val="F8E4E7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Generic drift equation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Five statistics + median/MAD + validation threshold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Operational event implication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630"/>
                          </a:solidFill>
                          <a:latin typeface="Aptos"/>
                        </a:rPr>
                        <a:t>Retrospective event sensitivity only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298448"/>
            <a:ext cx="4187952" cy="4526280"/>
          </a:xfrm>
          <a:prstGeom prst="roundRect">
            <a:avLst>
              <a:gd name="adj" fmla="val 8000"/>
            </a:avLst>
          </a:prstGeom>
          <a:solidFill>
            <a:srgbClr val="E1F2EF"/>
          </a:solidFill>
          <a:ln w="12700">
            <a:solidFill>
              <a:srgbClr val="1F7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4" y="1627632"/>
            <a:ext cx="3383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7B75"/>
                </a:solidFill>
                <a:latin typeface="Aptos"/>
              </a:rPr>
              <a:t>Live run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816" y="2176272"/>
            <a:ext cx="3429000" cy="265176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1  </a:t>
            </a:r>
            <a:r>
              <a:rPr sz="1700">
                <a:solidFill>
                  <a:srgbClr val="1D2630"/>
                </a:solidFill>
                <a:latin typeface="Aptos"/>
              </a:rPr>
              <a:t>Verify 43 hashes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2  </a:t>
            </a:r>
            <a:r>
              <a:rPr sz="1700">
                <a:solidFill>
                  <a:srgbClr val="1D2630"/>
                </a:solidFill>
                <a:latin typeface="Aptos"/>
              </a:rPr>
              <a:t>Rebuild data and retrieval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3  </a:t>
            </a:r>
            <a:r>
              <a:rPr sz="1700">
                <a:solidFill>
                  <a:srgbClr val="1D2630"/>
                </a:solidFill>
                <a:latin typeface="Aptos"/>
              </a:rPr>
              <a:t>Rerun M00-M11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4  </a:t>
            </a:r>
            <a:r>
              <a:rPr sz="1700">
                <a:solidFill>
                  <a:srgbClr val="1D2630"/>
                </a:solidFill>
                <a:latin typeface="Aptos"/>
              </a:rPr>
              <a:t>Recompute metrics + ablations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5  </a:t>
            </a:r>
            <a:r>
              <a:rPr sz="1700">
                <a:solidFill>
                  <a:srgbClr val="1D2630"/>
                </a:solidFill>
                <a:latin typeface="Aptos"/>
              </a:rPr>
              <a:t>Regenerate nine figures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B75"/>
                </a:solidFill>
                <a:latin typeface="Aptos"/>
              </a:rPr>
              <a:t>6  </a:t>
            </a:r>
            <a:r>
              <a:rPr sz="1700">
                <a:solidFill>
                  <a:srgbClr val="1D2630"/>
                </a:solidFill>
                <a:latin typeface="Aptos"/>
              </a:rPr>
              <a:t>Pass final claim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864608"/>
            <a:ext cx="33375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2630"/>
                </a:solidFill>
                <a:latin typeface="Aptos"/>
              </a:rPr>
              <a:t>Expected runtime: about 2-3 minutes with the archived ZIP attached.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08523"/>
                </a:solidFill>
                <a:latin typeface="Aptos"/>
              </a:rPr>
              <a:t>Bottom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193792"/>
            <a:ext cx="60350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D2630"/>
                </a:solidFill>
                <a:latin typeface="Aptos"/>
              </a:rPr>
              <a:t>The study is successful as a reproducible, leakage-audited framework with selective retrieval gains, not as a claim that Event-TimeRAF beats every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37960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66370"/>
                </a:solidFill>
                <a:latin typeface="Aptos"/>
              </a:rPr>
              <a:t>Notebook, paper, verification log, slides, and source ZIP use the same archived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Event-TimeRAF Verified Presentation</dc:title>
  <dc:subject>Manifest-backed PM2.5 forecasting study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